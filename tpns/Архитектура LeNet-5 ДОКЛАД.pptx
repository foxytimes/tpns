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974" y="211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/>
              <a:t>Архитектура </a:t>
            </a:r>
            <a:r>
              <a:rPr lang="en-US" dirty="0"/>
              <a:t>LeNet-5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LeNet-5 — одна из первых успешных сверточных нейронных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Разработана </a:t>
            </a:r>
            <a:r>
              <a:rPr lang="ru-RU" dirty="0" err="1"/>
              <a:t>Янном</a:t>
            </a:r>
            <a:r>
              <a:rPr lang="ru-RU" dirty="0"/>
              <a:t> </a:t>
            </a:r>
            <a:r>
              <a:rPr lang="ru-RU" dirty="0" err="1"/>
              <a:t>ЛеКуном</a:t>
            </a:r>
            <a:r>
              <a:rPr lang="ru-RU" dirty="0"/>
              <a:t> (</a:t>
            </a:r>
            <a:r>
              <a:rPr lang="ru-RU" dirty="0" err="1"/>
              <a:t>Yann</a:t>
            </a:r>
            <a:r>
              <a:rPr lang="ru-RU" dirty="0"/>
              <a:t> </a:t>
            </a:r>
            <a:r>
              <a:rPr lang="ru-RU" dirty="0" err="1"/>
              <a:t>LeCun</a:t>
            </a:r>
            <a:r>
              <a:rPr lang="ru-R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Использовалась для распознавания рукописных цифр (MNIST-подобные задачи)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Основа современных </a:t>
            </a:r>
            <a:r>
              <a:rPr lang="en-US" dirty="0"/>
              <a:t>CNN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128" y="28413"/>
            <a:ext cx="3778064" cy="172823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Общая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0D975C-0208-373F-548C-E320CDFE5232}"/>
              </a:ext>
            </a:extLst>
          </p:cNvPr>
          <p:cNvSpPr txBox="1">
            <a:spLocks/>
          </p:cNvSpPr>
          <p:nvPr/>
        </p:nvSpPr>
        <p:spPr>
          <a:xfrm>
            <a:off x="915128" y="1894014"/>
            <a:ext cx="6583680" cy="3207344"/>
          </a:xfrm>
          <a:prstGeom prst="rect">
            <a:avLst/>
          </a:prstGeom>
        </p:spPr>
        <p:txBody>
          <a:bodyPr rtlCol="0">
            <a:normAutofit/>
          </a:bodyPr>
          <a:lstStyle>
            <a:defPPr>
              <a:defRPr lang="ru-RU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 marL="342900" indent="-342900"/>
            <a:r>
              <a:rPr lang="ru-RU" dirty="0"/>
              <a:t>Иерархическое извлечение признаков</a:t>
            </a:r>
          </a:p>
          <a:p>
            <a:pPr marL="342900" indent="-342900"/>
            <a:r>
              <a:rPr lang="ru-RU" dirty="0"/>
              <a:t>Чередование сверточных и </a:t>
            </a:r>
            <a:r>
              <a:rPr lang="ru-RU" dirty="0" err="1"/>
              <a:t>пулинг</a:t>
            </a:r>
            <a:r>
              <a:rPr lang="ru-RU" dirty="0"/>
              <a:t> слоев</a:t>
            </a:r>
          </a:p>
          <a:p>
            <a:pPr marL="342900" indent="-342900"/>
            <a:r>
              <a:rPr lang="ru-RU" dirty="0"/>
              <a:t>Переход от изображений к классификации</a:t>
            </a:r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B72FB61A-F457-9893-808B-138E5408F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60" y="4433887"/>
            <a:ext cx="12192000" cy="242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02565"/>
            <a:ext cx="5628640" cy="249502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Входные</a:t>
            </a:r>
            <a:r>
              <a:rPr lang="en-US" dirty="0"/>
              <a:t> </a:t>
            </a:r>
            <a:r>
              <a:rPr lang="ru-RU" dirty="0"/>
              <a:t>данные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E582F2-3F5A-7400-8B8D-2F67DC452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231" y="3421854"/>
            <a:ext cx="3355769" cy="3436146"/>
          </a:xfrm>
          <a:prstGeom prst="rect">
            <a:avLst/>
          </a:prstGeom>
        </p:spPr>
      </p:pic>
      <p:sp>
        <p:nvSpPr>
          <p:cNvPr id="14" name="Объект 13">
            <a:extLst>
              <a:ext uri="{FF2B5EF4-FFF2-40B4-BE49-F238E27FC236}">
                <a16:creationId xmlns:a16="http://schemas.microsoft.com/office/drawing/2014/main" id="{2F164E18-2D29-9BC4-139A-C4D9CC2DB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46" y="2906694"/>
            <a:ext cx="5259554" cy="223323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Размер входа: 32×32 пикселя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Одноканальное изображение (</a:t>
            </a:r>
            <a:r>
              <a:rPr lang="en-US" sz="2800" dirty="0"/>
              <a:t>grayscale)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Центрирование цифры в изображении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Сверточный слой </a:t>
            </a:r>
            <a:r>
              <a:rPr lang="en-US" dirty="0"/>
              <a:t>CONV1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800" dirty="0"/>
              <a:t>6 фильтров (ядра 5×5)</a:t>
            </a:r>
            <a:endParaRPr lang="en-US" sz="2800" dirty="0"/>
          </a:p>
          <a:p>
            <a:r>
              <a:rPr lang="ru-RU" sz="2800" dirty="0"/>
              <a:t>Выход: 6 карт признаков 28×28</a:t>
            </a:r>
            <a:endParaRPr lang="en-US" sz="2800" dirty="0"/>
          </a:p>
          <a:p>
            <a:r>
              <a:rPr lang="ru-RU" sz="2800" dirty="0"/>
              <a:t>Активация: </a:t>
            </a:r>
            <a:r>
              <a:rPr lang="ru-RU" sz="2800" dirty="0" err="1"/>
              <a:t>sigmoid</a:t>
            </a:r>
            <a:r>
              <a:rPr lang="ru-RU" sz="2800" dirty="0"/>
              <a:t>/</a:t>
            </a:r>
            <a:r>
              <a:rPr lang="ru-RU" sz="2800" dirty="0" err="1"/>
              <a:t>tanh</a:t>
            </a:r>
            <a:r>
              <a:rPr lang="ru-RU" sz="2800" dirty="0"/>
              <a:t> (</a:t>
            </a:r>
            <a:r>
              <a:rPr lang="en-US" sz="2800" dirty="0" err="1"/>
              <a:t>relu</a:t>
            </a:r>
            <a:r>
              <a:rPr lang="en-US" sz="2800" dirty="0"/>
              <a:t> </a:t>
            </a:r>
            <a:r>
              <a:rPr lang="ru-RU" sz="2800" dirty="0"/>
              <a:t>в более новой)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-36512"/>
            <a:ext cx="5885180" cy="252021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 err="1"/>
              <a:t>Пулинг</a:t>
            </a:r>
            <a:r>
              <a:rPr lang="ru-RU" dirty="0"/>
              <a:t> слой </a:t>
            </a:r>
            <a:r>
              <a:rPr lang="en-US" dirty="0"/>
              <a:t>POOL2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2409" y="2692133"/>
            <a:ext cx="7043618" cy="223323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Subsampling (</a:t>
            </a:r>
            <a:r>
              <a:rPr lang="ru-RU" sz="2800" dirty="0" err="1"/>
              <a:t>субдискретизация</a:t>
            </a:r>
            <a:r>
              <a:rPr lang="ru-RU" sz="28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Размер окна: 2×2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Уменьшение размерности в 2 раза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Выход: 6 карт 14×14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Сверточный слой </a:t>
            </a:r>
            <a:r>
              <a:rPr lang="en-US" dirty="0"/>
              <a:t>CONV3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727269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16 фильтров 5×5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Извлечение более сложных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65393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 err="1"/>
              <a:t>Пулинг</a:t>
            </a:r>
            <a:r>
              <a:rPr lang="ru-RU" dirty="0"/>
              <a:t> слой </a:t>
            </a:r>
            <a:r>
              <a:rPr lang="en-US" dirty="0"/>
              <a:t>POOL4</a:t>
            </a:r>
            <a:endParaRPr lang="ru-RU" dirty="0"/>
          </a:p>
        </p:txBody>
      </p:sp>
      <p:sp>
        <p:nvSpPr>
          <p:cNvPr id="14" name="Объект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3492137" cy="414337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Аналогичен </a:t>
            </a:r>
            <a:r>
              <a:rPr lang="en-US" sz="2800" dirty="0"/>
              <a:t>S2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Уменьшение размерности до 5×5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 err="1"/>
              <a:t>Полносвязный</a:t>
            </a:r>
            <a:r>
              <a:rPr lang="ru-RU" dirty="0"/>
              <a:t> слой </a:t>
            </a:r>
            <a:r>
              <a:rPr lang="en-US" dirty="0"/>
              <a:t>FC5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714309" cy="3721817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120 нейронов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Каждый нейрон связан со всеми признаками предыдущего слоя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7E21334-8012-4220-951C-093B6B5B32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 err="1"/>
              <a:t>Полносвязный</a:t>
            </a:r>
            <a:r>
              <a:rPr lang="ru-RU" dirty="0"/>
              <a:t> слой </a:t>
            </a:r>
            <a:r>
              <a:rPr lang="en-US" dirty="0"/>
              <a:t>FC6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3195607" cy="3704266"/>
          </a:xfrm>
        </p:spPr>
        <p:txBody>
          <a:bodyPr rtlCol="0"/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84 нейрона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Выходной слой</a:t>
            </a:r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800" dirty="0"/>
              <a:t>10 нейронов (по числу классов 0–9)</a:t>
            </a:r>
            <a:endParaRPr lang="en-US" sz="2800" dirty="0"/>
          </a:p>
          <a:p>
            <a:r>
              <a:rPr lang="en-US" sz="2800" dirty="0" err="1"/>
              <a:t>Softmax</a:t>
            </a:r>
            <a:r>
              <a:rPr lang="en-US" sz="2800" dirty="0"/>
              <a:t> (</a:t>
            </a:r>
            <a:r>
              <a:rPr lang="ru-RU" sz="2800" dirty="0"/>
              <a:t>Выдача вероятностей классов)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4104639" cy="272770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Заключение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F840AB2-ABB3-F7DD-11DC-DB244BE35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LeNet-5 — </a:t>
            </a:r>
            <a:r>
              <a:rPr lang="ru-RU" sz="2800" dirty="0"/>
              <a:t>исторически важная модель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Простая, но мощная архитектура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До сих пор используется в обучении нейросетей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{FB016582-CE5D-4EE2-8816-92E740AA8A00}TF8a9b5915-b8c7-461e-8cdd-693d48b5e323138ae9a7_win32-fecfc327da1f</Template>
  <TotalTime>24</TotalTime>
  <Words>187</Words>
  <Application>Microsoft Office PowerPoint</Application>
  <PresentationFormat>Широкоэкранный</PresentationFormat>
  <Paragraphs>49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Пользовательская</vt:lpstr>
      <vt:lpstr>Архитектура LeNet-5</vt:lpstr>
      <vt:lpstr>Введение</vt:lpstr>
      <vt:lpstr>Общая идея</vt:lpstr>
      <vt:lpstr>Входные данные</vt:lpstr>
      <vt:lpstr>Сверточный слой CONV1</vt:lpstr>
      <vt:lpstr>Пулинг слой POOL2</vt:lpstr>
      <vt:lpstr>Сверточный слой CONV3</vt:lpstr>
      <vt:lpstr>Пулинг слой POOL4</vt:lpstr>
      <vt:lpstr>Полносвязный слой FC5</vt:lpstr>
      <vt:lpstr>Полносвязный слой FC6</vt:lpstr>
      <vt:lpstr>Выходной слой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Никита Доценко</dc:creator>
  <cp:lastModifiedBy>Никита Доценко</cp:lastModifiedBy>
  <cp:revision>1</cp:revision>
  <dcterms:created xsi:type="dcterms:W3CDTF">2026-05-04T16:49:09Z</dcterms:created>
  <dcterms:modified xsi:type="dcterms:W3CDTF">2026-05-04T17:13:16Z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